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ed Hat Display SemiBold"/>
      <p:regular r:id="rId12"/>
      <p:bold r:id="rId13"/>
      <p:italic r:id="rId14"/>
      <p:boldItalic r:id="rId15"/>
    </p:embeddedFont>
    <p:embeddedFont>
      <p:font typeface="Red Hat Display Medium"/>
      <p:regular r:id="rId16"/>
      <p:bold r:id="rId17"/>
      <p:italic r:id="rId18"/>
      <p:boldItalic r:id="rId19"/>
    </p:embeddedFont>
    <p:embeddedFont>
      <p:font typeface="Red Hat Display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edHatDisplay-regular.fntdata"/><Relationship Id="rId22" Type="http://schemas.openxmlformats.org/officeDocument/2006/relationships/font" Target="fonts/RedHatDisplay-italic.fntdata"/><Relationship Id="rId21" Type="http://schemas.openxmlformats.org/officeDocument/2006/relationships/font" Target="fonts/RedHatDisplay-bold.fntdata"/><Relationship Id="rId23" Type="http://schemas.openxmlformats.org/officeDocument/2006/relationships/font" Target="fonts/RedHatDispl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edHatDisplaySemiBold-bold.fntdata"/><Relationship Id="rId12" Type="http://schemas.openxmlformats.org/officeDocument/2006/relationships/font" Target="fonts/RedHatDisplaySemiBold-regular.fntdata"/><Relationship Id="rId15" Type="http://schemas.openxmlformats.org/officeDocument/2006/relationships/font" Target="fonts/RedHatDisplaySemiBold-boldItalic.fntdata"/><Relationship Id="rId14" Type="http://schemas.openxmlformats.org/officeDocument/2006/relationships/font" Target="fonts/RedHatDisplaySemiBold-italic.fntdata"/><Relationship Id="rId17" Type="http://schemas.openxmlformats.org/officeDocument/2006/relationships/font" Target="fonts/RedHatDisplayMedium-bold.fntdata"/><Relationship Id="rId16" Type="http://schemas.openxmlformats.org/officeDocument/2006/relationships/font" Target="fonts/RedHatDisplayMedium-regular.fntdata"/><Relationship Id="rId19" Type="http://schemas.openxmlformats.org/officeDocument/2006/relationships/font" Target="fonts/RedHatDisplayMedium-boldItalic.fntdata"/><Relationship Id="rId18" Type="http://schemas.openxmlformats.org/officeDocument/2006/relationships/font" Target="fonts/RedHatDisplay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6c2eb5ac1a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6c2eb5ac1a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6c2eb5ac1a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6c2eb5ac1a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6c2eb5ac1a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6c2eb5ac1a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6c2eb5ac1a_0_1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6c2eb5ac1a_0_1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6c2eb5ac1a_0_1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6c2eb5ac1a_0_1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6c2eb5ac1a_0_1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6c2eb5ac1a_0_1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" name="Google Shape;25;p2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46" name="Google Shape;46;p3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" name="Google Shape;47;p3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8" name="Google Shape;48;p3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3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4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5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78" name="Google Shape;78;p5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50" name="Google Shape;150;p5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151" name="Google Shape;151;p5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75" name="Google Shape;175;p5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79" name="Google Shape;179;p6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6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6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6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6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6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6" name="Google Shape;186;p6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6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8" name="Google Shape;188;p6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6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0" name="Google Shape;190;p6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6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2" name="Google Shape;192;p6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6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96" name="Google Shape;196;p7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" name="Google Shape;200;p7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7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7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7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7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7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7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7" name="Google Shape;207;p7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7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9" name="Google Shape;209;p7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7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1" name="Google Shape;211;p7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" name="Google Shape;212;p7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" name="Google Shape;213;p7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" name="Google Shape;214;p7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" name="Google Shape;215;p7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6" name="Google Shape;216;p7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7" name="Google Shape;217;p7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7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9" name="Google Shape;219;p7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4" name="Google Shape;224;p9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5" name="Google Shape;225;p9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9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" name="Google Shape;227;p9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9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9" name="Google Shape;229;p9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0" name="Google Shape;230;p9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9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2" name="Google Shape;232;p9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3" name="Google Shape;233;p9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6" name="Google Shape;236;p10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7" name="Google Shape;237;p10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8" name="Google Shape;238;p10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9" name="Google Shape;239;p10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0" name="Google Shape;240;p10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1" name="Google Shape;241;p10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0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3" name="Google Shape;243;p10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4" name="Google Shape;244;p10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5" name="Google Shape;245;p10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10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10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1"/>
          <p:cNvPicPr preferRelativeResize="0"/>
          <p:nvPr/>
        </p:nvPicPr>
        <p:blipFill rotWithShape="1">
          <a:blip r:embed="rId2">
            <a:alphaModFix/>
          </a:blip>
          <a:srcRect b="7467" l="0" r="17931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51" name="Google Shape;251;p11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2" name="Google Shape;252;p11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3" name="Google Shape;253;p11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4" name="Google Shape;254;p11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5" name="Google Shape;255;p11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6" name="Google Shape;256;p11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2"/>
          <p:cNvPicPr preferRelativeResize="0"/>
          <p:nvPr/>
        </p:nvPicPr>
        <p:blipFill rotWithShape="1">
          <a:blip r:embed="rId2">
            <a:alphaModFix/>
          </a:blip>
          <a:srcRect b="15068" l="14900" r="18070" t="15235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0" name="Google Shape;260;p12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61" name="Google Shape;261;p12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2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4" name="Google Shape;264;p12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5" name="Google Shape;265;p12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6" name="Google Shape;266;p12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7" name="Google Shape;267;p12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8" name="Google Shape;268;p12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9" name="Google Shape;269;p12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13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3" name="Google Shape;273;p13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4" name="Google Shape;274;p13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75" name="Google Shape;275;p13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9" name="Google Shape;279;p13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0" name="Google Shape;280;p13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1" name="Google Shape;281;p13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5" name="Google Shape;285;p14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14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14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8" name="Google Shape;288;p14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89" name="Google Shape;289;p14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0" name="Google Shape;290;p14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1" name="Google Shape;291;p14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2" name="Google Shape;292;p14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3" name="Google Shape;293;p14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96" name="Google Shape;296;p15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7" name="Google Shape;297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9" name="Google Shape;299;p15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0" name="Google Shape;300;p15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1" name="Google Shape;301;p15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2" name="Google Shape;302;p15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3" name="Google Shape;303;p15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4" name="Google Shape;304;p15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5" name="Google Shape;305;p15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6" name="Google Shape;306;p15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7" name="Google Shape;307;p15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8" name="Google Shape;308;p15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9" name="Google Shape;309;p15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0" name="Google Shape;310;p15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1" name="Google Shape;311;p15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2" name="Google Shape;312;p15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4" name="Google Shape;314;p15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5" name="Google Shape;315;p15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6" name="Google Shape;316;p15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7" name="Google Shape;317;p15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8" name="Google Shape;318;p15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9" name="Google Shape;319;p15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0" name="Google Shape;320;p15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1" name="Google Shape;321;p15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4" name="Google Shape;324;p16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5" name="Google Shape;325;p1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6" name="Google Shape;326;p16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0" name="Google Shape;330;p16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1" name="Google Shape;331;p16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33" name="Google Shape;333;p16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38" name="Google Shape;338;p1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9" name="Google Shape;339;p1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0" name="Google Shape;340;p17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1" name="Google Shape;341;p17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344" name="Google Shape;344;p17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345" name="Google Shape;345;p1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69" name="Google Shape;369;p17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70" name="Google Shape;370;p17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73" name="Google Shape;373;p1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4" name="Google Shape;374;p1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5" name="Google Shape;375;p18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6" name="Google Shape;376;p18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7" name="Google Shape;377;p18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8" name="Google Shape;378;p18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79" name="Google Shape;379;p18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3" name="Google Shape;383;p1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84" name="Google Shape;384;p1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5" name="Google Shape;385;p19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6" name="Google Shape;386;p19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7" name="Google Shape;387;p19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9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9" name="Google Shape;389;p19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0" name="Google Shape;390;p19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1" name="Google Shape;391;p19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2" name="Google Shape;392;p19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" name="Google Shape;394;p20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20"/>
          <p:cNvCxnSpPr>
            <a:stCxn id="396" idx="1"/>
            <a:endCxn id="397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20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0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20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0" name="Google Shape;400;p20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20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1" name="Google Shape;401;p20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20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3" name="Google Shape;403;p20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4" name="Google Shape;404;p20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21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21"/>
          <p:cNvCxnSpPr>
            <a:stCxn id="408" idx="1"/>
            <a:endCxn id="409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1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1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21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2" name="Google Shape;412;p21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21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3" name="Google Shape;413;p21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21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5" name="Google Shape;415;p21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6" name="Google Shape;416;p21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9" name="Google Shape;419;p22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22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4" name="Google Shape;424;p22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5" name="Google Shape;425;p22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6" name="Google Shape;426;p22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7" name="Google Shape;427;p22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8" name="Google Shape;428;p22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9" name="Google Shape;429;p22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0" name="Google Shape;430;p22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1" name="Google Shape;431;p22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2" name="Google Shape;432;p22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3" name="Google Shape;433;p22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4" name="Google Shape;434;p22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7" name="Google Shape;437;p23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8" name="Google Shape;438;p23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2" name="Google Shape;442;p23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3" name="Google Shape;443;p23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4" name="Google Shape;444;p23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5" name="Google Shape;445;p23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6" name="Google Shape;446;p23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9" name="Google Shape;449;p24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50" name="Google Shape;450;p24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51" name="Google Shape;451;p24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2" name="Google Shape;452;p24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3" name="Google Shape;453;p24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4" name="Google Shape;454;p24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5" name="Google Shape;455;p24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6" name="Google Shape;456;p24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1" name="Google Shape;46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4" name="Google Shape;464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5" name="Google Shape;465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8" name="Google Shape;468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3" name="Google Shape;473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4" name="Google Shape;474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9" name="Google Shape;479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83" name="Google Shape;48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4" name="Google Shape;48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7" name="Google Shape;48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9" name="Google Shape;48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3" name="Google Shape;49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94" name="Google Shape;49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5" name="Google Shape;49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6" name="Google Shape;49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7" name="Google Shape;49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2" name="Google Shape;50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3" name="Google Shape;50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4" name="Google Shape;50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5" name="Google Shape;50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6" name="Google Shape;50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7" name="Google Shape;50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8" name="Google Shape;50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1" name="Google Shape;51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4" name="Google Shape;51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7" name="Google Shape;5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8" name="Google Shape;51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9" name="Google Shape;51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2" name="Google Shape;52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7" name="Google Shape;5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28" name="Google Shape;52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9" name="Google Shape;52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0" name="Google Shape;53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41" name="Google Shape;54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11" Type="http://schemas.openxmlformats.org/officeDocument/2006/relationships/image" Target="../media/image9.png"/><Relationship Id="rId10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3"/>
          <p:cNvSpPr txBox="1"/>
          <p:nvPr>
            <p:ph type="title"/>
          </p:nvPr>
        </p:nvSpPr>
        <p:spPr>
          <a:xfrm>
            <a:off x="259050" y="1706600"/>
            <a:ext cx="5760900" cy="2551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APLICAȚIE MOBILĂ PENTRU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RECUNOAȘTEREA ȘI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INTERPRETAREA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INFORMAȚIILOR NUTRIȚIONALE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FOLOSIND OCR ȘI ANALIZĂ A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INGREDIENTELOR</a:t>
            </a:r>
            <a:endParaRPr sz="2300">
              <a:solidFill>
                <a:schemeClr val="dk2"/>
              </a:solidFill>
            </a:endParaRPr>
          </a:p>
        </p:txBody>
      </p:sp>
      <p:sp>
        <p:nvSpPr>
          <p:cNvPr id="549" name="Google Shape;549;p43"/>
          <p:cNvSpPr txBox="1"/>
          <p:nvPr/>
        </p:nvSpPr>
        <p:spPr>
          <a:xfrm>
            <a:off x="7138787" y="47365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Iulie 2025</a:t>
            </a:r>
            <a:endParaRPr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0" name="Google Shape;550;p43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Schmidt Robert Eduard</a:t>
            </a:r>
            <a:endParaRPr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4"/>
          <p:cNvSpPr txBox="1"/>
          <p:nvPr>
            <p:ph type="title"/>
          </p:nvPr>
        </p:nvSpPr>
        <p:spPr>
          <a:xfrm>
            <a:off x="2329800" y="9552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 și motivația</a:t>
            </a:r>
            <a:endParaRPr/>
          </a:p>
        </p:txBody>
      </p:sp>
      <p:sp>
        <p:nvSpPr>
          <p:cNvPr id="556" name="Google Shape;556;p44"/>
          <p:cNvSpPr txBox="1"/>
          <p:nvPr>
            <p:ph idx="1" type="subTitle"/>
          </p:nvPr>
        </p:nvSpPr>
        <p:spPr>
          <a:xfrm>
            <a:off x="523500" y="2200467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Denumirile științifice complexe ale ingredientelor creează confuzie în rândul consumatorilor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Listele lungi de ingrediente necesită mult timp pentru a fi analizate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Lipsa contextului cu privire la componentele nocive vs. cele benefice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Nevoia de alegeri rapide și informate în magazine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5"/>
          <p:cNvSpPr txBox="1"/>
          <p:nvPr>
            <p:ph idx="1" type="subTitle"/>
          </p:nvPr>
        </p:nvSpPr>
        <p:spPr>
          <a:xfrm>
            <a:off x="3905550" y="2073676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Aplicație mobilă care extrage automat date nutriționale din fotografii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OCR + AI transformă ingredientele complexe în explicații ușor de înțeles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Punctaj de procesare (1-5) pentru evaluarea rapidă a alimentelor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Capacități avansate de filtrare și clasificare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Bază de date personală cu caracteristici colaborative</a:t>
            </a:r>
            <a:endParaRPr/>
          </a:p>
        </p:txBody>
      </p:sp>
      <p:sp>
        <p:nvSpPr>
          <p:cNvPr id="562" name="Google Shape;562;p45"/>
          <p:cNvSpPr txBox="1"/>
          <p:nvPr>
            <p:ph type="title"/>
          </p:nvPr>
        </p:nvSpPr>
        <p:spPr>
          <a:xfrm>
            <a:off x="3892800" y="7981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Soluția: </a:t>
            </a:r>
            <a:r>
              <a:rPr lang="en">
                <a:solidFill>
                  <a:srgbClr val="6D9EEB"/>
                </a:solidFill>
              </a:rPr>
              <a:t>LabelLogic</a:t>
            </a:r>
            <a:endParaRPr>
              <a:solidFill>
                <a:srgbClr val="6D9EE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6200" y="2349021"/>
            <a:ext cx="1194725" cy="89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TypeScript Logo (Blue).svg - Wikimedia Commons" id="568" name="Google Shape;56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896" y="481901"/>
            <a:ext cx="1967299" cy="48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46" title="04a1e1f4d46601eaed93361118bd48e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9013" y="348122"/>
            <a:ext cx="3138675" cy="75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46" title="Google_Gemini_logo.sv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29088" y="3303375"/>
            <a:ext cx="3003975" cy="1115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46" title="Tesseract_OCR_logo_(Google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8600" y="3732250"/>
            <a:ext cx="2397875" cy="1061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46" title="pngeg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0349" y="1717748"/>
            <a:ext cx="1343725" cy="14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46" title="FastAPI_logo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34200" y="1895400"/>
            <a:ext cx="4075615" cy="75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46" title="d204e21d5301dd36108658a6b8aa97c8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62215" y="152400"/>
            <a:ext cx="1893326" cy="2103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46" title="bruno-logo-icon-wordmark-tagline-ligh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143175" y="3455775"/>
            <a:ext cx="2701595" cy="12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7"/>
          <p:cNvSpPr txBox="1"/>
          <p:nvPr>
            <p:ph type="title"/>
          </p:nvPr>
        </p:nvSpPr>
        <p:spPr>
          <a:xfrm>
            <a:off x="3108900" y="1011106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Implementarea</a:t>
            </a:r>
            <a:endParaRPr/>
          </a:p>
        </p:txBody>
      </p:sp>
      <p:sp>
        <p:nvSpPr>
          <p:cNvPr id="581" name="Google Shape;581;p47"/>
          <p:cNvSpPr txBox="1"/>
          <p:nvPr>
            <p:ph idx="1" type="subTitle"/>
          </p:nvPr>
        </p:nvSpPr>
        <p:spPr>
          <a:xfrm>
            <a:off x="2798850" y="2065350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Microservicii containerizate pentru scalabilitate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OCR + AI pentru acuratețe maximă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Procesarea în fundal previne blocarea interfeței utilizatorului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Urmărirea progresului în timp real prin polling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Autentificare JWT cu izolare a datelor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React Native pentru coerență între platforme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8"/>
          <p:cNvSpPr/>
          <p:nvPr/>
        </p:nvSpPr>
        <p:spPr>
          <a:xfrm>
            <a:off x="3996875" y="2437650"/>
            <a:ext cx="1545900" cy="3744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Rezultate mai bune</a:t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587" name="Google Shape;587;p48"/>
          <p:cNvSpPr/>
          <p:nvPr/>
        </p:nvSpPr>
        <p:spPr>
          <a:xfrm>
            <a:off x="5541711" y="2437653"/>
            <a:ext cx="2795700" cy="739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588" name="Google Shape;588;p48"/>
          <p:cNvSpPr/>
          <p:nvPr/>
        </p:nvSpPr>
        <p:spPr>
          <a:xfrm>
            <a:off x="3996825" y="3651400"/>
            <a:ext cx="1545900" cy="3744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Text fără greșeli </a:t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589" name="Google Shape;589;p48"/>
          <p:cNvSpPr/>
          <p:nvPr/>
        </p:nvSpPr>
        <p:spPr>
          <a:xfrm>
            <a:off x="5541711" y="3651375"/>
            <a:ext cx="2795700" cy="739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590" name="Google Shape;590;p48"/>
          <p:cNvSpPr/>
          <p:nvPr/>
        </p:nvSpPr>
        <p:spPr>
          <a:xfrm>
            <a:off x="3996875" y="1223925"/>
            <a:ext cx="1545900" cy="3744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rPr>
              <a:t>Acces mai ușor</a:t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591" name="Google Shape;591;p48"/>
          <p:cNvSpPr/>
          <p:nvPr/>
        </p:nvSpPr>
        <p:spPr>
          <a:xfrm>
            <a:off x="5541711" y="1223932"/>
            <a:ext cx="2795700" cy="739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592" name="Google Shape;592;p48"/>
          <p:cNvSpPr txBox="1"/>
          <p:nvPr>
            <p:ph type="title"/>
          </p:nvPr>
        </p:nvSpPr>
        <p:spPr>
          <a:xfrm>
            <a:off x="228600" y="10124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593" name="Google Shape;593;p48"/>
          <p:cNvSpPr txBox="1"/>
          <p:nvPr>
            <p:ph idx="3" type="subTitle"/>
          </p:nvPr>
        </p:nvSpPr>
        <p:spPr>
          <a:xfrm>
            <a:off x="5926693" y="1223875"/>
            <a:ext cx="2060100" cy="73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Încărcarea aplicației în cloud, folosind un load-balancer.</a:t>
            </a:r>
            <a:endParaRPr/>
          </a:p>
        </p:txBody>
      </p:sp>
      <p:sp>
        <p:nvSpPr>
          <p:cNvPr id="594" name="Google Shape;594;p48"/>
          <p:cNvSpPr txBox="1"/>
          <p:nvPr>
            <p:ph idx="4" type="subTitle"/>
          </p:nvPr>
        </p:nvSpPr>
        <p:spPr>
          <a:xfrm>
            <a:off x="5926693" y="2437660"/>
            <a:ext cx="2060100" cy="73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Antrenarea unui model LLM local pentru denumiri și informații despre nutriție.</a:t>
            </a:r>
            <a:endParaRPr/>
          </a:p>
        </p:txBody>
      </p:sp>
      <p:sp>
        <p:nvSpPr>
          <p:cNvPr id="595" name="Google Shape;595;p48"/>
          <p:cNvSpPr txBox="1"/>
          <p:nvPr>
            <p:ph idx="5" type="subTitle"/>
          </p:nvPr>
        </p:nvSpPr>
        <p:spPr>
          <a:xfrm>
            <a:off x="5926693" y="3651389"/>
            <a:ext cx="2060100" cy="73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Preantrenarea unui model de OCR local, specific etichetelor.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